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7" r:id="rId5"/>
    <p:sldId id="261" r:id="rId6"/>
    <p:sldId id="25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74"/>
  </p:normalViewPr>
  <p:slideViewPr>
    <p:cSldViewPr snapToGrid="0" snapToObjects="1">
      <p:cViewPr varScale="1">
        <p:scale>
          <a:sx n="104" d="100"/>
          <a:sy n="104" d="100"/>
        </p:scale>
        <p:origin x="23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29CE54-4E41-9044-878F-B6019A26A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90FAF6-F501-EB45-9636-DB1A31DA1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194957-1FF8-834A-91FD-4AE842C4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D4E899-69D8-1042-8D8A-B14F2DE4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82621C-8AD1-254E-9F3E-FEEBE5BA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35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7EBB0-74B5-064D-B79B-6A01CFC3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4FECD-593E-334C-9764-FD12B4D15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9E9BB4-DA49-B542-9FC2-A994D3DB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3459E2-D61B-4646-B8C7-7596F152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382AD5-73A3-E74B-BAC3-A06BD3BC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30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B51BB-384C-D74A-AC34-23DA07EF6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745CB5-B544-3C43-8A0F-2C23C2224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D5E4B5-817F-474C-A371-C7F5CCE27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BCFDB7-8F4A-1B4A-95B3-69D52740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B5E04A-6700-5646-807B-98EC1CBD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26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B5EEED-473C-2E4E-B66E-208E96A4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E8F9CD-462C-7F4F-B90A-D361A80D9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52CF72-AA21-5A41-8671-B801EDBE8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B8BC45-BE79-C94C-8B67-42ADFAE8C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EA3761-F96B-9A4C-83D6-29A9DDE2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33DCE5-64EB-3E48-8738-9D433B30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988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B0DF3-CF05-4C42-8406-DA05DFD79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F803A0-353A-1C44-8CD1-38B8B39D1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F25141-204C-4A48-876E-BC52DA6A3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C86436-222B-1A43-8813-6CA251E8F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6886470-AE54-B04B-927A-F1D160DFA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CF99F46-1B25-B44A-96EB-4731B7EC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EB2F5EE-02B0-794F-990A-A1264448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1707926-484A-1442-8394-EEEC252F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57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305E9-8173-5B40-9855-7E4D06B60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74D406-3195-F042-A0DE-5BB91D50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6AC5E6-2729-CB4E-AC58-47A8891A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7D8962-CEBE-6640-B042-933C7E14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91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D2D12B-CD54-F14A-ABDF-F347D00A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5E9667-B6C4-D84E-9597-BB30C24E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29C511-CCC9-544A-A20D-C3941ADA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16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F83FC-CC35-B34E-9E11-3EF3A1266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E82B51-DBC4-7F40-B337-C81108C41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2A67D6-FD33-6944-A69F-D4DBB165D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D43785-003A-F842-BA13-259B1B5B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55ACBE-D57A-DE47-A4D3-252D1009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43DDD5-58F4-694D-A664-A5BEBB52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48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DB8C89-6E9C-C446-B8D6-04B36EF7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4F93411-DFFB-C44A-A0BF-DF3852EB47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7326C-3FF6-494A-887F-BE3D61930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2CD323-2FD9-7C41-BF53-C39A2514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D67F95-83CD-E94C-AA53-C461F8BD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30D245-B60D-0441-A1D4-5972EDBA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18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238A1-D7F5-0748-8E07-BE6185E5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7476BD-3FFE-0849-BD27-8CDECD0EF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A39A52-6D18-E240-A211-7B22D115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93BF4-8883-1A43-86AE-8A6C3840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032A87-9FF7-BC46-B797-2A638CBA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075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A50C756-6872-F840-9EDC-C927A6B6E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768C7E-6338-5C43-8CA3-8FCC9DB7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966146-A831-3449-B97F-319C67F9E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2E4CBD-7A1B-ED4B-8B11-9E171B92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D99E5B-1606-AD43-9FCA-9667756F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603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E1CE2AA-0693-2045-83FF-FEF1A06E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DA08F6-4847-0C41-94DA-FE72C5830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32DF5A-636D-284F-A44F-15F3E0B28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38395-24E3-5E4A-8079-1AD0AD9FC066}" type="datetimeFigureOut">
              <a:rPr lang="fr-FR" smtClean="0"/>
              <a:t>30/06/2022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A01FBB-8075-D844-8C9D-8ED1ED4DC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E035C9-A053-7D49-8F65-B8EA8F98B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C1052-34F9-6B4E-AE46-69DE5E103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54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A7AD297-0600-D743-B5EB-31941FA5CE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73" r="20346" b="36523"/>
          <a:stretch/>
        </p:blipFill>
        <p:spPr>
          <a:xfrm>
            <a:off x="1136822" y="1061805"/>
            <a:ext cx="4255148" cy="394268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5C36D38-14F9-864B-BBD5-6D98D87C1B25}"/>
              </a:ext>
            </a:extLst>
          </p:cNvPr>
          <p:cNvSpPr txBox="1"/>
          <p:nvPr/>
        </p:nvSpPr>
        <p:spPr>
          <a:xfrm>
            <a:off x="5775411" y="340100"/>
            <a:ext cx="2062744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0: </a:t>
            </a:r>
            <a:r>
              <a:rPr lang="fr-FR" sz="1600" dirty="0" err="1"/>
              <a:t>Capillary</a:t>
            </a:r>
            <a:r>
              <a:rPr lang="fr-FR" sz="1600" dirty="0"/>
              <a:t> </a:t>
            </a:r>
            <a:r>
              <a:rPr lang="fr-FR" sz="1600" dirty="0" err="1"/>
              <a:t>ECs</a:t>
            </a:r>
            <a:endParaRPr lang="fr-FR" sz="1600" dirty="0"/>
          </a:p>
          <a:p>
            <a:r>
              <a:rPr lang="fr-FR" sz="1600" dirty="0"/>
              <a:t>1: Monocytes</a:t>
            </a:r>
          </a:p>
          <a:p>
            <a:r>
              <a:rPr lang="fr-FR" sz="1600" dirty="0"/>
              <a:t>2: Lars2+ M</a:t>
            </a:r>
            <a:r>
              <a:rPr lang="el-GR" sz="1600" dirty="0"/>
              <a:t>Φ</a:t>
            </a:r>
            <a:endParaRPr lang="fr-FR" sz="1600" dirty="0"/>
          </a:p>
          <a:p>
            <a:r>
              <a:rPr lang="fr-FR" sz="1600" dirty="0"/>
              <a:t>3: Trem2+ M</a:t>
            </a:r>
            <a:r>
              <a:rPr lang="el-GR" sz="1600" dirty="0"/>
              <a:t>Φ</a:t>
            </a:r>
            <a:endParaRPr lang="fr-FR" sz="1600" dirty="0"/>
          </a:p>
          <a:p>
            <a:r>
              <a:rPr lang="fr-FR" sz="1600" dirty="0"/>
              <a:t>4: H2-Ab1+ M</a:t>
            </a:r>
            <a:r>
              <a:rPr lang="el-GR" sz="1600" dirty="0"/>
              <a:t>Φ</a:t>
            </a:r>
            <a:endParaRPr lang="fr-FR" sz="1600" dirty="0"/>
          </a:p>
          <a:p>
            <a:r>
              <a:rPr lang="fr-FR" sz="1600" dirty="0"/>
              <a:t>5: </a:t>
            </a:r>
            <a:r>
              <a:rPr lang="fr-FR" sz="1600" dirty="0" err="1"/>
              <a:t>Sprouting</a:t>
            </a:r>
            <a:r>
              <a:rPr lang="fr-FR" sz="1600" dirty="0"/>
              <a:t> </a:t>
            </a:r>
            <a:r>
              <a:rPr lang="fr-FR" sz="1600" dirty="0" err="1"/>
              <a:t>ECs</a:t>
            </a:r>
            <a:endParaRPr lang="fr-FR" sz="1600" dirty="0"/>
          </a:p>
          <a:p>
            <a:r>
              <a:rPr lang="fr-FR" sz="1600" dirty="0"/>
              <a:t>6: </a:t>
            </a:r>
            <a:r>
              <a:rPr lang="fr-FR" sz="1600" dirty="0" err="1"/>
              <a:t>mDCs</a:t>
            </a:r>
            <a:endParaRPr lang="fr-FR" sz="1600" dirty="0"/>
          </a:p>
          <a:p>
            <a:r>
              <a:rPr lang="fr-FR" sz="1600" dirty="0"/>
              <a:t>7: Cd14+ M</a:t>
            </a:r>
            <a:r>
              <a:rPr lang="el-GR" sz="1600" dirty="0"/>
              <a:t>Φ</a:t>
            </a:r>
            <a:endParaRPr lang="fr-FR" sz="1600" dirty="0"/>
          </a:p>
          <a:p>
            <a:r>
              <a:rPr lang="fr-FR" sz="1600" dirty="0"/>
              <a:t>8: </a:t>
            </a:r>
            <a:r>
              <a:rPr lang="fr-FR" sz="1600" dirty="0" err="1"/>
              <a:t>Fibroblasts</a:t>
            </a:r>
            <a:endParaRPr lang="fr-FR" sz="1600" dirty="0"/>
          </a:p>
          <a:p>
            <a:r>
              <a:rPr lang="fr-FR" sz="1600" dirty="0"/>
              <a:t>9: Mural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10: </a:t>
            </a:r>
            <a:r>
              <a:rPr lang="fr-FR" sz="1600" dirty="0" err="1"/>
              <a:t>Lymphatic</a:t>
            </a:r>
            <a:r>
              <a:rPr lang="fr-FR" sz="1600" dirty="0"/>
              <a:t> </a:t>
            </a:r>
            <a:r>
              <a:rPr lang="fr-FR" sz="1600" dirty="0" err="1"/>
              <a:t>ECs</a:t>
            </a:r>
            <a:endParaRPr lang="fr-FR" sz="1600" dirty="0"/>
          </a:p>
          <a:p>
            <a:r>
              <a:rPr lang="fr-FR" sz="1600" dirty="0"/>
              <a:t>11: </a:t>
            </a:r>
            <a:r>
              <a:rPr lang="fr-FR" sz="1600" dirty="0" err="1"/>
              <a:t>Red</a:t>
            </a:r>
            <a:r>
              <a:rPr lang="fr-FR" sz="1600" dirty="0"/>
              <a:t> Blood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12: MuSCs</a:t>
            </a:r>
          </a:p>
          <a:p>
            <a:r>
              <a:rPr lang="fr-FR" sz="1600" dirty="0"/>
              <a:t>13: </a:t>
            </a:r>
            <a:r>
              <a:rPr lang="fr-FR" sz="1600" dirty="0" err="1"/>
              <a:t>Erythrophagocytes</a:t>
            </a:r>
            <a:endParaRPr lang="fr-FR" sz="1600" dirty="0"/>
          </a:p>
          <a:p>
            <a:r>
              <a:rPr lang="fr-FR" sz="1600" dirty="0"/>
              <a:t>14: Large Vessel </a:t>
            </a:r>
            <a:r>
              <a:rPr lang="fr-FR" sz="1600" dirty="0" err="1"/>
              <a:t>ECs</a:t>
            </a:r>
            <a:endParaRPr lang="fr-FR" sz="1600" dirty="0"/>
          </a:p>
          <a:p>
            <a:r>
              <a:rPr lang="fr-FR" sz="1600" dirty="0"/>
              <a:t>15: Ly6c2+ M</a:t>
            </a:r>
            <a:r>
              <a:rPr lang="el-GR" sz="1600" dirty="0"/>
              <a:t>Φ</a:t>
            </a:r>
          </a:p>
          <a:p>
            <a:r>
              <a:rPr lang="fr-FR" sz="1600" dirty="0"/>
              <a:t>16: </a:t>
            </a:r>
            <a:r>
              <a:rPr lang="fr-FR" sz="1600" dirty="0" err="1"/>
              <a:t>Regulatory</a:t>
            </a:r>
            <a:r>
              <a:rPr lang="fr-FR" sz="1600" dirty="0"/>
              <a:t> </a:t>
            </a:r>
            <a:r>
              <a:rPr lang="fr-FR" sz="1600" dirty="0" err="1"/>
              <a:t>T</a:t>
            </a:r>
            <a:r>
              <a:rPr lang="fr-FR" sz="1600" dirty="0"/>
              <a:t>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17: NK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18: Schwann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19: NKT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20: </a:t>
            </a:r>
            <a:r>
              <a:rPr lang="fr-FR" sz="1600" dirty="0" err="1"/>
              <a:t>pDCs</a:t>
            </a:r>
            <a:endParaRPr lang="fr-FR" sz="16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CFC6FF5-DF3A-2841-B24F-47141607DF9F}"/>
              </a:ext>
            </a:extLst>
          </p:cNvPr>
          <p:cNvSpPr txBox="1"/>
          <p:nvPr/>
        </p:nvSpPr>
        <p:spPr>
          <a:xfrm>
            <a:off x="1028598" y="801673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Helvetica" pitchFamily="2" charset="0"/>
              </a:rPr>
              <a:t>Inflammatory</a:t>
            </a:r>
            <a:r>
              <a:rPr lang="fr-FR" sz="1600" dirty="0">
                <a:solidFill>
                  <a:srgbClr val="FF0000"/>
                </a:solidFill>
                <a:latin typeface="Helvetica" pitchFamily="2" charset="0"/>
              </a:rPr>
              <a:t> pop.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A7F29D-5CC4-CE4B-9DD7-C2FA54306FEB}"/>
              </a:ext>
            </a:extLst>
          </p:cNvPr>
          <p:cNvSpPr txBox="1"/>
          <p:nvPr/>
        </p:nvSpPr>
        <p:spPr>
          <a:xfrm>
            <a:off x="2598607" y="5004486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9D1EFEB-695A-3A48-98B3-2CA679899070}"/>
              </a:ext>
            </a:extLst>
          </p:cNvPr>
          <p:cNvSpPr txBox="1"/>
          <p:nvPr/>
        </p:nvSpPr>
        <p:spPr>
          <a:xfrm rot="16200000">
            <a:off x="-225749" y="229011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FltSNE2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22EEB06-F701-AB44-90D4-59F0876F0E2E}"/>
              </a:ext>
            </a:extLst>
          </p:cNvPr>
          <p:cNvSpPr/>
          <p:nvPr/>
        </p:nvSpPr>
        <p:spPr>
          <a:xfrm rot="1154534">
            <a:off x="1227465" y="1145764"/>
            <a:ext cx="1929017" cy="3252509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47E7964-4909-CB45-ADE8-8CBADD00C060}"/>
              </a:ext>
            </a:extLst>
          </p:cNvPr>
          <p:cNvSpPr/>
          <p:nvPr/>
        </p:nvSpPr>
        <p:spPr>
          <a:xfrm rot="1154534">
            <a:off x="3184093" y="1595388"/>
            <a:ext cx="1812877" cy="2133105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AA2A92-D1FF-0D43-A05B-838340E8EFF7}"/>
              </a:ext>
            </a:extLst>
          </p:cNvPr>
          <p:cNvSpPr txBox="1"/>
          <p:nvPr/>
        </p:nvSpPr>
        <p:spPr>
          <a:xfrm>
            <a:off x="4088787" y="1250355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Helvetica" pitchFamily="2" charset="0"/>
              </a:rPr>
              <a:t>Endothelial</a:t>
            </a:r>
            <a:r>
              <a:rPr lang="fr-FR" sz="1600" dirty="0">
                <a:solidFill>
                  <a:srgbClr val="FF0000"/>
                </a:solidFill>
                <a:latin typeface="Helvetica" pitchFamily="2" charset="0"/>
              </a:rPr>
              <a:t> pop.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4AACAB0-2E7A-384F-87E9-A5FCD6477C10}"/>
              </a:ext>
            </a:extLst>
          </p:cNvPr>
          <p:cNvSpPr txBox="1"/>
          <p:nvPr/>
        </p:nvSpPr>
        <p:spPr>
          <a:xfrm>
            <a:off x="3135295" y="3953043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Helvetica" pitchFamily="2" charset="0"/>
              </a:rPr>
              <a:t>MuSCs</a:t>
            </a:r>
            <a:r>
              <a:rPr lang="fr-FR" sz="1600" dirty="0">
                <a:solidFill>
                  <a:srgbClr val="FF0000"/>
                </a:solidFill>
                <a:latin typeface="Helvetica" pitchFamily="2" charset="0"/>
              </a:rPr>
              <a:t>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6A6B796-D1FC-114C-A81A-5584F4D89C40}"/>
              </a:ext>
            </a:extLst>
          </p:cNvPr>
          <p:cNvSpPr txBox="1"/>
          <p:nvPr/>
        </p:nvSpPr>
        <p:spPr>
          <a:xfrm>
            <a:off x="3296699" y="461555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Helvetica" pitchFamily="2" charset="0"/>
              </a:rPr>
              <a:t>Fibroblasts</a:t>
            </a:r>
            <a:r>
              <a:rPr lang="fr-FR" sz="1600" dirty="0">
                <a:solidFill>
                  <a:srgbClr val="FF0000"/>
                </a:solidFill>
                <a:latin typeface="Helvetica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373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A7AD297-0600-D743-B5EB-31941FA5CE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73" r="20346" b="36523"/>
          <a:stretch/>
        </p:blipFill>
        <p:spPr>
          <a:xfrm>
            <a:off x="1136822" y="1061805"/>
            <a:ext cx="4255148" cy="394268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5C36D38-14F9-864B-BBD5-6D98D87C1B25}"/>
              </a:ext>
            </a:extLst>
          </p:cNvPr>
          <p:cNvSpPr txBox="1"/>
          <p:nvPr/>
        </p:nvSpPr>
        <p:spPr>
          <a:xfrm>
            <a:off x="5391970" y="340100"/>
            <a:ext cx="2062744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0: </a:t>
            </a:r>
            <a:r>
              <a:rPr lang="fr-FR" sz="1600" dirty="0" err="1"/>
              <a:t>Capillary</a:t>
            </a:r>
            <a:r>
              <a:rPr lang="fr-FR" sz="1600" dirty="0"/>
              <a:t> </a:t>
            </a:r>
            <a:r>
              <a:rPr lang="fr-FR" sz="1600" dirty="0" err="1"/>
              <a:t>ECs</a:t>
            </a:r>
            <a:endParaRPr lang="fr-FR" sz="1600" dirty="0"/>
          </a:p>
          <a:p>
            <a:r>
              <a:rPr lang="fr-FR" sz="1600" dirty="0"/>
              <a:t>1: Monocytes</a:t>
            </a:r>
          </a:p>
          <a:p>
            <a:r>
              <a:rPr lang="fr-FR" sz="1600" dirty="0"/>
              <a:t>2: Lars2+ M</a:t>
            </a:r>
            <a:r>
              <a:rPr lang="el-GR" sz="1600" dirty="0"/>
              <a:t>Φ</a:t>
            </a:r>
            <a:endParaRPr lang="fr-FR" sz="1600" dirty="0"/>
          </a:p>
          <a:p>
            <a:r>
              <a:rPr lang="fr-FR" sz="1600" dirty="0"/>
              <a:t>3: Trem2+ M</a:t>
            </a:r>
            <a:r>
              <a:rPr lang="el-GR" sz="1600" dirty="0"/>
              <a:t>Φ</a:t>
            </a:r>
            <a:endParaRPr lang="fr-FR" sz="1600" dirty="0"/>
          </a:p>
          <a:p>
            <a:r>
              <a:rPr lang="fr-FR" sz="1600" dirty="0"/>
              <a:t>4: H2-Ab1+ M</a:t>
            </a:r>
            <a:r>
              <a:rPr lang="el-GR" sz="1600" dirty="0"/>
              <a:t>Φ</a:t>
            </a:r>
            <a:endParaRPr lang="fr-FR" sz="1600" dirty="0"/>
          </a:p>
          <a:p>
            <a:r>
              <a:rPr lang="fr-FR" sz="1600" dirty="0"/>
              <a:t>5: </a:t>
            </a:r>
            <a:r>
              <a:rPr lang="fr-FR" sz="1600" dirty="0" err="1"/>
              <a:t>Sprouting</a:t>
            </a:r>
            <a:r>
              <a:rPr lang="fr-FR" sz="1600" dirty="0"/>
              <a:t> </a:t>
            </a:r>
            <a:r>
              <a:rPr lang="fr-FR" sz="1600" dirty="0" err="1"/>
              <a:t>ECs</a:t>
            </a:r>
            <a:endParaRPr lang="fr-FR" sz="1600" dirty="0"/>
          </a:p>
          <a:p>
            <a:r>
              <a:rPr lang="fr-FR" sz="1600" dirty="0"/>
              <a:t>6: </a:t>
            </a:r>
            <a:r>
              <a:rPr lang="fr-FR" sz="1600" dirty="0" err="1"/>
              <a:t>mDCs</a:t>
            </a:r>
            <a:endParaRPr lang="fr-FR" sz="1600" dirty="0"/>
          </a:p>
          <a:p>
            <a:r>
              <a:rPr lang="fr-FR" sz="1600" dirty="0"/>
              <a:t>7: Cd14+ M</a:t>
            </a:r>
            <a:r>
              <a:rPr lang="el-GR" sz="1600" dirty="0"/>
              <a:t>Φ</a:t>
            </a:r>
            <a:endParaRPr lang="fr-FR" sz="1600" dirty="0"/>
          </a:p>
          <a:p>
            <a:r>
              <a:rPr lang="fr-FR" sz="1600" dirty="0"/>
              <a:t>8: </a:t>
            </a:r>
            <a:r>
              <a:rPr lang="fr-FR" sz="1600" dirty="0" err="1"/>
              <a:t>Fibroblasts</a:t>
            </a:r>
            <a:endParaRPr lang="fr-FR" sz="1600" dirty="0"/>
          </a:p>
          <a:p>
            <a:r>
              <a:rPr lang="fr-FR" sz="1600" dirty="0"/>
              <a:t>9: Mural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10: </a:t>
            </a:r>
            <a:r>
              <a:rPr lang="fr-FR" sz="1600" dirty="0" err="1"/>
              <a:t>Lymphatic</a:t>
            </a:r>
            <a:r>
              <a:rPr lang="fr-FR" sz="1600" dirty="0"/>
              <a:t> </a:t>
            </a:r>
            <a:r>
              <a:rPr lang="fr-FR" sz="1600" dirty="0" err="1"/>
              <a:t>ECs</a:t>
            </a:r>
            <a:endParaRPr lang="fr-FR" sz="1600" dirty="0"/>
          </a:p>
          <a:p>
            <a:r>
              <a:rPr lang="fr-FR" sz="1600" dirty="0"/>
              <a:t>11: </a:t>
            </a:r>
            <a:r>
              <a:rPr lang="fr-FR" sz="1600" dirty="0" err="1"/>
              <a:t>Red</a:t>
            </a:r>
            <a:r>
              <a:rPr lang="fr-FR" sz="1600" dirty="0"/>
              <a:t> Blood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12: MuSCs</a:t>
            </a:r>
          </a:p>
          <a:p>
            <a:r>
              <a:rPr lang="fr-FR" sz="1600" dirty="0"/>
              <a:t>13: </a:t>
            </a:r>
            <a:r>
              <a:rPr lang="fr-FR" sz="1600" dirty="0" err="1"/>
              <a:t>Erythrophagocytes</a:t>
            </a:r>
            <a:endParaRPr lang="fr-FR" sz="1600" dirty="0"/>
          </a:p>
          <a:p>
            <a:r>
              <a:rPr lang="fr-FR" sz="1600" dirty="0"/>
              <a:t>14: Large Vessel </a:t>
            </a:r>
            <a:r>
              <a:rPr lang="fr-FR" sz="1600" dirty="0" err="1"/>
              <a:t>ECs</a:t>
            </a:r>
            <a:endParaRPr lang="fr-FR" sz="1600" dirty="0"/>
          </a:p>
          <a:p>
            <a:r>
              <a:rPr lang="fr-FR" sz="1600" dirty="0"/>
              <a:t>15: Ccl24+ M</a:t>
            </a:r>
            <a:r>
              <a:rPr lang="el-GR" sz="1600" dirty="0"/>
              <a:t>Φ</a:t>
            </a:r>
          </a:p>
          <a:p>
            <a:r>
              <a:rPr lang="fr-FR" sz="1600" dirty="0"/>
              <a:t>16: </a:t>
            </a:r>
            <a:r>
              <a:rPr lang="fr-FR" sz="1600" dirty="0" err="1"/>
              <a:t>Regulatory</a:t>
            </a:r>
            <a:r>
              <a:rPr lang="fr-FR" sz="1600" dirty="0"/>
              <a:t> </a:t>
            </a:r>
            <a:r>
              <a:rPr lang="fr-FR" sz="1600" dirty="0" err="1"/>
              <a:t>T</a:t>
            </a:r>
            <a:r>
              <a:rPr lang="fr-FR" sz="1600" dirty="0"/>
              <a:t>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17: NK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18: Schwann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19: NKT </a:t>
            </a:r>
            <a:r>
              <a:rPr lang="fr-FR" sz="1600" dirty="0" err="1"/>
              <a:t>Cells</a:t>
            </a:r>
            <a:endParaRPr lang="fr-FR" sz="1600" dirty="0"/>
          </a:p>
          <a:p>
            <a:r>
              <a:rPr lang="fr-FR" sz="1600" dirty="0"/>
              <a:t>20: </a:t>
            </a:r>
            <a:r>
              <a:rPr lang="fr-FR" sz="1600" dirty="0" err="1"/>
              <a:t>pDCs</a:t>
            </a:r>
            <a:endParaRPr lang="fr-FR" sz="1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A7F29D-5CC4-CE4B-9DD7-C2FA54306FEB}"/>
              </a:ext>
            </a:extLst>
          </p:cNvPr>
          <p:cNvSpPr txBox="1"/>
          <p:nvPr/>
        </p:nvSpPr>
        <p:spPr>
          <a:xfrm>
            <a:off x="2598607" y="5004486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9D1EFEB-695A-3A48-98B3-2CA679899070}"/>
              </a:ext>
            </a:extLst>
          </p:cNvPr>
          <p:cNvSpPr txBox="1"/>
          <p:nvPr/>
        </p:nvSpPr>
        <p:spPr>
          <a:xfrm rot="16200000">
            <a:off x="-225749" y="229011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FltSNE2</a:t>
            </a:r>
          </a:p>
        </p:txBody>
      </p:sp>
    </p:spTree>
    <p:extLst>
      <p:ext uri="{BB962C8B-B14F-4D97-AF65-F5344CB8AC3E}">
        <p14:creationId xmlns:p14="http://schemas.microsoft.com/office/powerpoint/2010/main" val="684886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9360FB5-39A5-154D-BA40-20132769D9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05" r="20346" b="35770"/>
          <a:stretch/>
        </p:blipFill>
        <p:spPr>
          <a:xfrm>
            <a:off x="2995076" y="391244"/>
            <a:ext cx="5628050" cy="534229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A58C53-4A0E-5144-8133-825B8DE65651}"/>
              </a:ext>
            </a:extLst>
          </p:cNvPr>
          <p:cNvSpPr txBox="1"/>
          <p:nvPr/>
        </p:nvSpPr>
        <p:spPr>
          <a:xfrm>
            <a:off x="7149926" y="2330549"/>
            <a:ext cx="241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Capillary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ECs</a:t>
            </a:r>
            <a:endParaRPr lang="fr-FR" sz="1600" b="1" dirty="0">
              <a:latin typeface="Helvetica" pitchFamily="2" charset="0"/>
            </a:endParaRPr>
          </a:p>
          <a:p>
            <a:endParaRPr lang="fr-FR" sz="1600" b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1DCEA06-17DE-874C-A965-24FD33915747}"/>
              </a:ext>
            </a:extLst>
          </p:cNvPr>
          <p:cNvSpPr txBox="1"/>
          <p:nvPr/>
        </p:nvSpPr>
        <p:spPr>
          <a:xfrm>
            <a:off x="2965658" y="664309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Folr2+ Monocytes</a:t>
            </a:r>
            <a:endParaRPr lang="fr-FR" sz="160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B0819BB-0ECB-2E4B-9805-D9837A3A1D10}"/>
              </a:ext>
            </a:extLst>
          </p:cNvPr>
          <p:cNvSpPr txBox="1"/>
          <p:nvPr/>
        </p:nvSpPr>
        <p:spPr>
          <a:xfrm>
            <a:off x="5292534" y="2284382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Lars2+ 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1146416-6FAC-894F-AB7B-766AB43E590B}"/>
              </a:ext>
            </a:extLst>
          </p:cNvPr>
          <p:cNvSpPr txBox="1"/>
          <p:nvPr/>
        </p:nvSpPr>
        <p:spPr>
          <a:xfrm>
            <a:off x="4886960" y="175346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Trem2+ 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B73FAAC-79C1-824A-8C39-2A88BCF0FB39}"/>
              </a:ext>
            </a:extLst>
          </p:cNvPr>
          <p:cNvSpPr txBox="1"/>
          <p:nvPr/>
        </p:nvSpPr>
        <p:spPr>
          <a:xfrm>
            <a:off x="3066550" y="2041857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H2-Ab1+ 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E876E7-DCD2-764C-A9C5-AE2D25190AD2}"/>
              </a:ext>
            </a:extLst>
          </p:cNvPr>
          <p:cNvSpPr txBox="1"/>
          <p:nvPr/>
        </p:nvSpPr>
        <p:spPr>
          <a:xfrm>
            <a:off x="5637738" y="2576770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Sprouting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ECs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FD1222-EAFA-364D-BCFE-DD410F5E5EEB}"/>
              </a:ext>
            </a:extLst>
          </p:cNvPr>
          <p:cNvSpPr/>
          <p:nvPr/>
        </p:nvSpPr>
        <p:spPr>
          <a:xfrm>
            <a:off x="3177366" y="3611880"/>
            <a:ext cx="7761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mDCs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15DDA07-69D0-934D-B53F-8C14C81926D9}"/>
              </a:ext>
            </a:extLst>
          </p:cNvPr>
          <p:cNvSpPr txBox="1"/>
          <p:nvPr/>
        </p:nvSpPr>
        <p:spPr>
          <a:xfrm>
            <a:off x="2995076" y="3001587"/>
            <a:ext cx="1179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Cd14+ 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F389A4D-6E03-B442-98DA-AD0BB07A442F}"/>
              </a:ext>
            </a:extLst>
          </p:cNvPr>
          <p:cNvSpPr txBox="1"/>
          <p:nvPr/>
        </p:nvSpPr>
        <p:spPr>
          <a:xfrm>
            <a:off x="5468446" y="4685352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Fibroblasts</a:t>
            </a:r>
            <a:endParaRPr lang="el-GR" sz="1600" b="1" dirty="0">
              <a:latin typeface="Helvetica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39B70D-27EC-6549-BC3B-48C7641638D0}"/>
              </a:ext>
            </a:extLst>
          </p:cNvPr>
          <p:cNvSpPr/>
          <p:nvPr/>
        </p:nvSpPr>
        <p:spPr>
          <a:xfrm>
            <a:off x="6442040" y="4125127"/>
            <a:ext cx="1415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latin typeface="Helvetica" pitchFamily="2" charset="0"/>
              </a:rPr>
              <a:t>Mural </a:t>
            </a:r>
            <a:r>
              <a:rPr lang="fr-FR" b="1" dirty="0" err="1">
                <a:latin typeface="Helvetica" pitchFamily="2" charset="0"/>
              </a:rPr>
              <a:t>Cells</a:t>
            </a:r>
            <a:endParaRPr lang="fr-FR" b="1" dirty="0">
              <a:latin typeface="Helvetica" pitchFamily="2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FF5DF05-7974-194F-910B-3A222312280C}"/>
              </a:ext>
            </a:extLst>
          </p:cNvPr>
          <p:cNvSpPr txBox="1"/>
          <p:nvPr/>
        </p:nvSpPr>
        <p:spPr>
          <a:xfrm>
            <a:off x="7149926" y="3397995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Lymphatic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ECs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859D28F-8D28-0B4B-9DCC-6EE1D65B6DB6}"/>
              </a:ext>
            </a:extLst>
          </p:cNvPr>
          <p:cNvSpPr txBox="1"/>
          <p:nvPr/>
        </p:nvSpPr>
        <p:spPr>
          <a:xfrm>
            <a:off x="5047465" y="2950839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Red</a:t>
            </a:r>
            <a:r>
              <a:rPr lang="fr-FR" sz="1600" b="1" dirty="0">
                <a:latin typeface="Helvetica" pitchFamily="2" charset="0"/>
              </a:rPr>
              <a:t> Blood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66AC6F1-C568-9449-90D7-F1826731B89C}"/>
              </a:ext>
            </a:extLst>
          </p:cNvPr>
          <p:cNvSpPr txBox="1"/>
          <p:nvPr/>
        </p:nvSpPr>
        <p:spPr>
          <a:xfrm>
            <a:off x="5378663" y="3955850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MuSCs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2CACE9D-C171-FC43-8C45-52108F9D2ACF}"/>
              </a:ext>
            </a:extLst>
          </p:cNvPr>
          <p:cNvSpPr txBox="1"/>
          <p:nvPr/>
        </p:nvSpPr>
        <p:spPr>
          <a:xfrm>
            <a:off x="4539750" y="2045856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Erythrophagocytes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E997652-21C6-EF4B-A99A-E5A9178F79EE}"/>
              </a:ext>
            </a:extLst>
          </p:cNvPr>
          <p:cNvSpPr txBox="1"/>
          <p:nvPr/>
        </p:nvSpPr>
        <p:spPr>
          <a:xfrm>
            <a:off x="6096000" y="1293371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Large </a:t>
            </a:r>
            <a:r>
              <a:rPr lang="fr-FR" sz="1600" b="1" dirty="0" err="1">
                <a:latin typeface="Helvetica" pitchFamily="2" charset="0"/>
              </a:rPr>
              <a:t>Vessel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ECs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F2A97C1-966D-C740-9F4E-309B12E2BB28}"/>
              </a:ext>
            </a:extLst>
          </p:cNvPr>
          <p:cNvSpPr txBox="1"/>
          <p:nvPr/>
        </p:nvSpPr>
        <p:spPr>
          <a:xfrm>
            <a:off x="5028138" y="890099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Ccl24+ 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C0E9D95-D9EA-024A-A075-D654E81852B7}"/>
              </a:ext>
            </a:extLst>
          </p:cNvPr>
          <p:cNvSpPr txBox="1"/>
          <p:nvPr/>
        </p:nvSpPr>
        <p:spPr>
          <a:xfrm>
            <a:off x="3314526" y="4723552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Regulatory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T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el-GR" sz="1600" b="1" dirty="0">
              <a:latin typeface="Helvetica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75862C1-091B-2D42-A5CA-B9E0B40729B6}"/>
              </a:ext>
            </a:extLst>
          </p:cNvPr>
          <p:cNvSpPr txBox="1"/>
          <p:nvPr/>
        </p:nvSpPr>
        <p:spPr>
          <a:xfrm>
            <a:off x="5378663" y="334988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NK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A9AB39-844E-E24E-85E7-E1DF83A638FC}"/>
              </a:ext>
            </a:extLst>
          </p:cNvPr>
          <p:cNvSpPr/>
          <p:nvPr/>
        </p:nvSpPr>
        <p:spPr>
          <a:xfrm>
            <a:off x="6333837" y="3652869"/>
            <a:ext cx="16321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Schwann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fr-FR" sz="1600" b="1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D8197BD-79F7-7743-B131-6C995C69F992}"/>
              </a:ext>
            </a:extLst>
          </p:cNvPr>
          <p:cNvSpPr txBox="1"/>
          <p:nvPr/>
        </p:nvSpPr>
        <p:spPr>
          <a:xfrm>
            <a:off x="3953541" y="3410383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NKT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0EBEEE4-D161-9E4B-A613-362289A7BF2C}"/>
              </a:ext>
            </a:extLst>
          </p:cNvPr>
          <p:cNvSpPr txBox="1"/>
          <p:nvPr/>
        </p:nvSpPr>
        <p:spPr>
          <a:xfrm>
            <a:off x="4701312" y="4089554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pDCs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E98257B-2A6C-7C49-AF67-8F378C571CA2}"/>
              </a:ext>
            </a:extLst>
          </p:cNvPr>
          <p:cNvSpPr txBox="1"/>
          <p:nvPr/>
        </p:nvSpPr>
        <p:spPr>
          <a:xfrm>
            <a:off x="5028138" y="568675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FltSNE1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CE852C0-9890-BC4F-A0BE-A99447C8299B}"/>
              </a:ext>
            </a:extLst>
          </p:cNvPr>
          <p:cNvSpPr txBox="1"/>
          <p:nvPr/>
        </p:nvSpPr>
        <p:spPr>
          <a:xfrm rot="16200000">
            <a:off x="1649853" y="2402840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FltSNE2</a:t>
            </a:r>
          </a:p>
        </p:txBody>
      </p:sp>
    </p:spTree>
    <p:extLst>
      <p:ext uri="{BB962C8B-B14F-4D97-AF65-F5344CB8AC3E}">
        <p14:creationId xmlns:p14="http://schemas.microsoft.com/office/powerpoint/2010/main" val="319542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A152F14-B270-A846-AF3C-B0D5B7843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96" b="27868"/>
          <a:stretch/>
        </p:blipFill>
        <p:spPr>
          <a:xfrm>
            <a:off x="1191474" y="1247665"/>
            <a:ext cx="6149423" cy="442372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0C608B1-BBB3-CB43-BB63-B3C263C91F2E}"/>
              </a:ext>
            </a:extLst>
          </p:cNvPr>
          <p:cNvSpPr txBox="1"/>
          <p:nvPr/>
        </p:nvSpPr>
        <p:spPr>
          <a:xfrm>
            <a:off x="6997700" y="1358900"/>
            <a:ext cx="228139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Helvetica" pitchFamily="2" charset="0"/>
              </a:rPr>
              <a:t>0: </a:t>
            </a:r>
            <a:r>
              <a:rPr lang="fr-FR" dirty="0" err="1">
                <a:latin typeface="Helvetica" pitchFamily="2" charset="0"/>
              </a:rPr>
              <a:t>Fibroblasts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1: Mono/M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2: Sparc+ M</a:t>
            </a:r>
            <a:r>
              <a:rPr lang="el-GR" dirty="0">
                <a:latin typeface="Helvetica" pitchFamily="2" charset="0"/>
              </a:rPr>
              <a:t>Φ</a:t>
            </a:r>
            <a:r>
              <a:rPr lang="fr-FR" dirty="0">
                <a:latin typeface="Helvetica" pitchFamily="2" charset="0"/>
              </a:rPr>
              <a:t> </a:t>
            </a:r>
          </a:p>
          <a:p>
            <a:r>
              <a:rPr lang="fr-FR" dirty="0">
                <a:latin typeface="Helvetica" pitchFamily="2" charset="0"/>
              </a:rPr>
              <a:t>3: MuSCs</a:t>
            </a:r>
          </a:p>
          <a:p>
            <a:r>
              <a:rPr lang="fr-FR" dirty="0">
                <a:latin typeface="Helvetica" pitchFamily="2" charset="0"/>
              </a:rPr>
              <a:t>4: </a:t>
            </a:r>
            <a:r>
              <a:rPr lang="fr-FR" dirty="0" err="1">
                <a:latin typeface="Helvetica" pitchFamily="2" charset="0"/>
              </a:rPr>
              <a:t>Sprouting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ECs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5: Lars2+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6: Trem2+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7: H2-Ab1+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8: </a:t>
            </a:r>
            <a:r>
              <a:rPr lang="fr-FR" dirty="0" err="1">
                <a:latin typeface="Helvetica" pitchFamily="2" charset="0"/>
              </a:rPr>
              <a:t>Capillary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ECs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9: Folr2+ Monocytes</a:t>
            </a:r>
          </a:p>
          <a:p>
            <a:r>
              <a:rPr lang="fr-FR" dirty="0">
                <a:latin typeface="Helvetica" pitchFamily="2" charset="0"/>
              </a:rPr>
              <a:t>10: Cd14+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11: Mural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12: </a:t>
            </a:r>
            <a:r>
              <a:rPr lang="fr-FR" dirty="0" err="1">
                <a:latin typeface="Helvetica" pitchFamily="2" charset="0"/>
              </a:rPr>
              <a:t>Cytotoxic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T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13: </a:t>
            </a:r>
            <a:r>
              <a:rPr lang="fr-FR" dirty="0" err="1">
                <a:latin typeface="Helvetica" pitchFamily="2" charset="0"/>
              </a:rPr>
              <a:t>mDCs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14: Schwann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endParaRPr lang="fr-FR" dirty="0">
              <a:latin typeface="Helvetica" pitchFamily="2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58497-1B8E-424C-92A3-AA8CDCF152D9}"/>
              </a:ext>
            </a:extLst>
          </p:cNvPr>
          <p:cNvSpPr txBox="1"/>
          <p:nvPr/>
        </p:nvSpPr>
        <p:spPr>
          <a:xfrm>
            <a:off x="3204087" y="571393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B771FA-520F-8643-A2A2-D1E0A7DEF5BF}"/>
              </a:ext>
            </a:extLst>
          </p:cNvPr>
          <p:cNvSpPr txBox="1"/>
          <p:nvPr/>
        </p:nvSpPr>
        <p:spPr>
          <a:xfrm rot="16200000">
            <a:off x="-17566" y="2928013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C10092-A0DC-B244-9F91-B90AB400F901}"/>
              </a:ext>
            </a:extLst>
          </p:cNvPr>
          <p:cNvSpPr txBox="1"/>
          <p:nvPr/>
        </p:nvSpPr>
        <p:spPr>
          <a:xfrm>
            <a:off x="8820529" y="909111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Schwann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fr-FR" sz="16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388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A152F14-B270-A846-AF3C-B0D5B7843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96" b="27868"/>
          <a:stretch/>
        </p:blipFill>
        <p:spPr>
          <a:xfrm>
            <a:off x="1191474" y="1247665"/>
            <a:ext cx="6149423" cy="442372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0C608B1-BBB3-CB43-BB63-B3C263C91F2E}"/>
              </a:ext>
            </a:extLst>
          </p:cNvPr>
          <p:cNvSpPr txBox="1"/>
          <p:nvPr/>
        </p:nvSpPr>
        <p:spPr>
          <a:xfrm>
            <a:off x="5953065" y="1358900"/>
            <a:ext cx="210538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ea typeface="AppleMyungjo" pitchFamily="2" charset="-127"/>
              </a:rPr>
              <a:t>0: </a:t>
            </a:r>
            <a:r>
              <a:rPr lang="fr-FR" dirty="0" err="1">
                <a:ea typeface="AppleMyungjo" pitchFamily="2" charset="-127"/>
              </a:rPr>
              <a:t>Fibroblasts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1: </a:t>
            </a:r>
            <a:r>
              <a:rPr lang="fr-FR" dirty="0" err="1">
                <a:ea typeface="AppleMyungjo" pitchFamily="2" charset="-127"/>
              </a:rPr>
              <a:t>IntMonoM</a:t>
            </a:r>
            <a:r>
              <a:rPr lang="el-GR" dirty="0">
                <a:ea typeface="AppleMyungjo" pitchFamily="2" charset="-127"/>
              </a:rPr>
              <a:t>Φ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2: Sparc+ M</a:t>
            </a:r>
            <a:r>
              <a:rPr lang="el-GR" dirty="0">
                <a:ea typeface="AppleMyungjo" pitchFamily="2" charset="-127"/>
              </a:rPr>
              <a:t>Φ</a:t>
            </a:r>
            <a:r>
              <a:rPr lang="fr-FR" dirty="0">
                <a:ea typeface="AppleMyungjo" pitchFamily="2" charset="-127"/>
              </a:rPr>
              <a:t> </a:t>
            </a:r>
          </a:p>
          <a:p>
            <a:r>
              <a:rPr lang="fr-FR" dirty="0">
                <a:ea typeface="AppleMyungjo" pitchFamily="2" charset="-127"/>
              </a:rPr>
              <a:t>3: MuSCs</a:t>
            </a:r>
          </a:p>
          <a:p>
            <a:r>
              <a:rPr lang="fr-FR" dirty="0">
                <a:ea typeface="AppleMyungjo" pitchFamily="2" charset="-127"/>
              </a:rPr>
              <a:t>4: </a:t>
            </a:r>
            <a:r>
              <a:rPr lang="fr-FR" dirty="0" err="1">
                <a:ea typeface="AppleMyungjo" pitchFamily="2" charset="-127"/>
              </a:rPr>
              <a:t>Sprouting</a:t>
            </a:r>
            <a:r>
              <a:rPr lang="fr-FR" dirty="0">
                <a:ea typeface="AppleMyungjo" pitchFamily="2" charset="-127"/>
              </a:rPr>
              <a:t> </a:t>
            </a:r>
            <a:r>
              <a:rPr lang="fr-FR" dirty="0" err="1">
                <a:ea typeface="AppleMyungjo" pitchFamily="2" charset="-127"/>
              </a:rPr>
              <a:t>ECs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5: Lars2+ M</a:t>
            </a:r>
            <a:r>
              <a:rPr lang="el-GR" dirty="0">
                <a:ea typeface="AppleMyungjo" pitchFamily="2" charset="-127"/>
              </a:rPr>
              <a:t>Φ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6: Trem2+ M</a:t>
            </a:r>
            <a:r>
              <a:rPr lang="el-GR" dirty="0">
                <a:ea typeface="AppleMyungjo" pitchFamily="2" charset="-127"/>
              </a:rPr>
              <a:t>Φ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7: H2-Ab1+ M</a:t>
            </a:r>
            <a:r>
              <a:rPr lang="el-GR" dirty="0">
                <a:ea typeface="AppleMyungjo" pitchFamily="2" charset="-127"/>
              </a:rPr>
              <a:t>Φ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8: </a:t>
            </a:r>
            <a:r>
              <a:rPr lang="fr-FR" dirty="0" err="1">
                <a:ea typeface="AppleMyungjo" pitchFamily="2" charset="-127"/>
              </a:rPr>
              <a:t>Capillary</a:t>
            </a:r>
            <a:r>
              <a:rPr lang="fr-FR" dirty="0">
                <a:ea typeface="AppleMyungjo" pitchFamily="2" charset="-127"/>
              </a:rPr>
              <a:t> </a:t>
            </a:r>
            <a:r>
              <a:rPr lang="fr-FR" dirty="0" err="1">
                <a:ea typeface="AppleMyungjo" pitchFamily="2" charset="-127"/>
              </a:rPr>
              <a:t>ECs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9: Monocytes</a:t>
            </a:r>
          </a:p>
          <a:p>
            <a:r>
              <a:rPr lang="fr-FR" dirty="0">
                <a:ea typeface="AppleMyungjo" pitchFamily="2" charset="-127"/>
              </a:rPr>
              <a:t>10: Cd14+ M</a:t>
            </a:r>
            <a:r>
              <a:rPr lang="el-GR" dirty="0">
                <a:ea typeface="AppleMyungjo" pitchFamily="2" charset="-127"/>
              </a:rPr>
              <a:t>Φ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11: Mural </a:t>
            </a:r>
            <a:r>
              <a:rPr lang="fr-FR" dirty="0" err="1">
                <a:ea typeface="AppleMyungjo" pitchFamily="2" charset="-127"/>
              </a:rPr>
              <a:t>Cells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12: </a:t>
            </a:r>
            <a:r>
              <a:rPr lang="fr-FR" dirty="0" err="1">
                <a:ea typeface="AppleMyungjo" pitchFamily="2" charset="-127"/>
              </a:rPr>
              <a:t>Cytotoxic</a:t>
            </a:r>
            <a:r>
              <a:rPr lang="fr-FR" dirty="0">
                <a:ea typeface="AppleMyungjo" pitchFamily="2" charset="-127"/>
              </a:rPr>
              <a:t> </a:t>
            </a:r>
            <a:r>
              <a:rPr lang="fr-FR" dirty="0" err="1">
                <a:ea typeface="AppleMyungjo" pitchFamily="2" charset="-127"/>
              </a:rPr>
              <a:t>T</a:t>
            </a:r>
            <a:r>
              <a:rPr lang="fr-FR" dirty="0">
                <a:ea typeface="AppleMyungjo" pitchFamily="2" charset="-127"/>
              </a:rPr>
              <a:t> </a:t>
            </a:r>
            <a:r>
              <a:rPr lang="fr-FR" dirty="0" err="1">
                <a:ea typeface="AppleMyungjo" pitchFamily="2" charset="-127"/>
              </a:rPr>
              <a:t>cells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13: </a:t>
            </a:r>
            <a:r>
              <a:rPr lang="fr-FR" dirty="0" err="1">
                <a:ea typeface="AppleMyungjo" pitchFamily="2" charset="-127"/>
              </a:rPr>
              <a:t>mDCs</a:t>
            </a:r>
            <a:endParaRPr lang="fr-FR" dirty="0">
              <a:ea typeface="AppleMyungjo" pitchFamily="2" charset="-127"/>
            </a:endParaRPr>
          </a:p>
          <a:p>
            <a:r>
              <a:rPr lang="fr-FR" dirty="0">
                <a:ea typeface="AppleMyungjo" pitchFamily="2" charset="-127"/>
              </a:rPr>
              <a:t>14: Schwann </a:t>
            </a:r>
            <a:r>
              <a:rPr lang="fr-FR" dirty="0" err="1">
                <a:ea typeface="AppleMyungjo" pitchFamily="2" charset="-127"/>
              </a:rPr>
              <a:t>Cells</a:t>
            </a:r>
            <a:endParaRPr lang="fr-FR" dirty="0">
              <a:ea typeface="AppleMyungjo" pitchFamily="2" charset="-127"/>
            </a:endParaRPr>
          </a:p>
          <a:p>
            <a:endParaRPr lang="fr-FR" dirty="0">
              <a:ea typeface="AppleMyungjo" pitchFamily="2" charset="-127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58497-1B8E-424C-92A3-AA8CDCF152D9}"/>
              </a:ext>
            </a:extLst>
          </p:cNvPr>
          <p:cNvSpPr txBox="1"/>
          <p:nvPr/>
        </p:nvSpPr>
        <p:spPr>
          <a:xfrm>
            <a:off x="3204087" y="571393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B771FA-520F-8643-A2A2-D1E0A7DEF5BF}"/>
              </a:ext>
            </a:extLst>
          </p:cNvPr>
          <p:cNvSpPr txBox="1"/>
          <p:nvPr/>
        </p:nvSpPr>
        <p:spPr>
          <a:xfrm rot="16200000">
            <a:off x="-17566" y="2928013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12496B5-5485-AE4F-BAD8-C67FDA256253}"/>
              </a:ext>
            </a:extLst>
          </p:cNvPr>
          <p:cNvSpPr txBox="1"/>
          <p:nvPr/>
        </p:nvSpPr>
        <p:spPr>
          <a:xfrm>
            <a:off x="3896468" y="191323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Helvetica" pitchFamily="2" charset="0"/>
              </a:rPr>
              <a:t>Inflammatory</a:t>
            </a:r>
            <a:r>
              <a:rPr lang="fr-FR" sz="1600" dirty="0">
                <a:solidFill>
                  <a:srgbClr val="FF0000"/>
                </a:solidFill>
                <a:latin typeface="Helvetica" pitchFamily="2" charset="0"/>
              </a:rPr>
              <a:t> pop. 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A6DF604-C305-0240-BCD0-FFA94DE0AC47}"/>
              </a:ext>
            </a:extLst>
          </p:cNvPr>
          <p:cNvSpPr/>
          <p:nvPr/>
        </p:nvSpPr>
        <p:spPr>
          <a:xfrm rot="1154534">
            <a:off x="2776348" y="2460832"/>
            <a:ext cx="2964225" cy="2659445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C70DA25-2907-A04C-AAFF-F1A0CB355F0A}"/>
              </a:ext>
            </a:extLst>
          </p:cNvPr>
          <p:cNvSpPr/>
          <p:nvPr/>
        </p:nvSpPr>
        <p:spPr>
          <a:xfrm rot="6502433">
            <a:off x="1709282" y="3691433"/>
            <a:ext cx="1465845" cy="2210369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7A3F73-91C9-CB45-A978-2FA3761F457A}"/>
              </a:ext>
            </a:extLst>
          </p:cNvPr>
          <p:cNvSpPr txBox="1"/>
          <p:nvPr/>
        </p:nvSpPr>
        <p:spPr>
          <a:xfrm>
            <a:off x="406086" y="530185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Helvetica" pitchFamily="2" charset="0"/>
              </a:rPr>
              <a:t>Endothelial</a:t>
            </a:r>
            <a:r>
              <a:rPr lang="fr-FR" sz="1600" dirty="0">
                <a:solidFill>
                  <a:srgbClr val="FF0000"/>
                </a:solidFill>
                <a:latin typeface="Helvetica" pitchFamily="2" charset="0"/>
              </a:rPr>
              <a:t> pop.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083183A-41CC-2F4A-84B7-AD693C0B8055}"/>
              </a:ext>
            </a:extLst>
          </p:cNvPr>
          <p:cNvSpPr txBox="1"/>
          <p:nvPr/>
        </p:nvSpPr>
        <p:spPr>
          <a:xfrm>
            <a:off x="1926255" y="3435179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Helvetica" pitchFamily="2" charset="0"/>
              </a:rPr>
              <a:t>MuSCs</a:t>
            </a:r>
            <a:r>
              <a:rPr lang="fr-FR" sz="1600" dirty="0">
                <a:solidFill>
                  <a:srgbClr val="FF0000"/>
                </a:solidFill>
                <a:latin typeface="Helvetica" pitchFamily="2" charset="0"/>
              </a:rPr>
              <a:t>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8CFC97C-0D7E-6D49-9C32-B95BFAFDF190}"/>
              </a:ext>
            </a:extLst>
          </p:cNvPr>
          <p:cNvSpPr txBox="1"/>
          <p:nvPr/>
        </p:nvSpPr>
        <p:spPr>
          <a:xfrm>
            <a:off x="2198780" y="1166927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FF0000"/>
                </a:solidFill>
                <a:latin typeface="Helvetica" pitchFamily="2" charset="0"/>
              </a:rPr>
              <a:t>Fibroblasts</a:t>
            </a:r>
            <a:r>
              <a:rPr lang="fr-FR" sz="1600" dirty="0">
                <a:solidFill>
                  <a:srgbClr val="FF0000"/>
                </a:solidFill>
                <a:latin typeface="Helvetica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60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2790CE2-DA6A-9C42-86AB-9D53489406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9" b="28282"/>
          <a:stretch/>
        </p:blipFill>
        <p:spPr>
          <a:xfrm>
            <a:off x="3496961" y="475370"/>
            <a:ext cx="7172813" cy="515931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9AC9394-CA43-6444-9A35-734EF648D98B}"/>
              </a:ext>
            </a:extLst>
          </p:cNvPr>
          <p:cNvSpPr txBox="1"/>
          <p:nvPr/>
        </p:nvSpPr>
        <p:spPr>
          <a:xfrm>
            <a:off x="5874327" y="5634682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1F11FC-BFB8-FD41-874C-A57E9DB8F855}"/>
              </a:ext>
            </a:extLst>
          </p:cNvPr>
          <p:cNvSpPr txBox="1"/>
          <p:nvPr/>
        </p:nvSpPr>
        <p:spPr>
          <a:xfrm rot="16200000">
            <a:off x="2118644" y="2448067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FltSNE2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EE99E6-DCDA-EB45-9F51-53022914383B}"/>
              </a:ext>
            </a:extLst>
          </p:cNvPr>
          <p:cNvSpPr txBox="1"/>
          <p:nvPr/>
        </p:nvSpPr>
        <p:spPr>
          <a:xfrm>
            <a:off x="4886960" y="970894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Fibroblasts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9AB37F-A8ED-A54B-B541-6B7066BACD96}"/>
              </a:ext>
            </a:extLst>
          </p:cNvPr>
          <p:cNvSpPr txBox="1"/>
          <p:nvPr/>
        </p:nvSpPr>
        <p:spPr>
          <a:xfrm>
            <a:off x="6276961" y="3826384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Mono/M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3148AAB-02FE-944B-9F32-9B71B7AF59B7}"/>
              </a:ext>
            </a:extLst>
          </p:cNvPr>
          <p:cNvSpPr txBox="1"/>
          <p:nvPr/>
        </p:nvSpPr>
        <p:spPr>
          <a:xfrm>
            <a:off x="5484205" y="275295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Sparc+ 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6DC8574-3AF7-504E-9D31-1CB3EE055FB7}"/>
              </a:ext>
            </a:extLst>
          </p:cNvPr>
          <p:cNvSpPr txBox="1"/>
          <p:nvPr/>
        </p:nvSpPr>
        <p:spPr>
          <a:xfrm>
            <a:off x="4665287" y="3120394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MuSCs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360CF10-D47C-354C-87B8-9B35E5322C2A}"/>
              </a:ext>
            </a:extLst>
          </p:cNvPr>
          <p:cNvSpPr txBox="1"/>
          <p:nvPr/>
        </p:nvSpPr>
        <p:spPr>
          <a:xfrm>
            <a:off x="4665287" y="3942114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Sprouting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ECs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4E40067-B649-1C4C-98C9-4D419C201C9E}"/>
              </a:ext>
            </a:extLst>
          </p:cNvPr>
          <p:cNvSpPr txBox="1"/>
          <p:nvPr/>
        </p:nvSpPr>
        <p:spPr>
          <a:xfrm>
            <a:off x="6652531" y="2936676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Lars2+ 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C1B202F-FF3E-3142-A1B0-DC7E897C62E7}"/>
              </a:ext>
            </a:extLst>
          </p:cNvPr>
          <p:cNvSpPr txBox="1"/>
          <p:nvPr/>
        </p:nvSpPr>
        <p:spPr>
          <a:xfrm>
            <a:off x="6096000" y="4643685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Trem2+ 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F9EC3EB-B9DA-6745-A685-F04107795EDA}"/>
              </a:ext>
            </a:extLst>
          </p:cNvPr>
          <p:cNvSpPr txBox="1"/>
          <p:nvPr/>
        </p:nvSpPr>
        <p:spPr>
          <a:xfrm>
            <a:off x="7597210" y="3479242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H2-Ab1+ 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BCAB791-D414-F74B-BBA5-FD592D0ECCD2}"/>
              </a:ext>
            </a:extLst>
          </p:cNvPr>
          <p:cNvSpPr txBox="1"/>
          <p:nvPr/>
        </p:nvSpPr>
        <p:spPr>
          <a:xfrm>
            <a:off x="3456247" y="366933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Capillary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ECs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B6EFBFB-76EA-D241-B541-78A7932A577B}"/>
              </a:ext>
            </a:extLst>
          </p:cNvPr>
          <p:cNvSpPr txBox="1"/>
          <p:nvPr/>
        </p:nvSpPr>
        <p:spPr>
          <a:xfrm>
            <a:off x="7597210" y="456931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Folr2+ Monocytes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AFC6388-2279-FC46-B816-B88E6663F7A5}"/>
              </a:ext>
            </a:extLst>
          </p:cNvPr>
          <p:cNvSpPr txBox="1"/>
          <p:nvPr/>
        </p:nvSpPr>
        <p:spPr>
          <a:xfrm>
            <a:off x="7486001" y="2344308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Cd14+ M</a:t>
            </a:r>
            <a:r>
              <a:rPr lang="el-GR" sz="1600" b="1" dirty="0">
                <a:latin typeface="Helvetica" pitchFamily="2" charset="0"/>
              </a:rPr>
              <a:t>Φ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69489CF-6018-AB44-86FD-442D59657CEB}"/>
              </a:ext>
            </a:extLst>
          </p:cNvPr>
          <p:cNvSpPr txBox="1"/>
          <p:nvPr/>
        </p:nvSpPr>
        <p:spPr>
          <a:xfrm>
            <a:off x="5067921" y="5228857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Mural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0100017-268A-4E4A-9F92-DCCA673CE00E}"/>
              </a:ext>
            </a:extLst>
          </p:cNvPr>
          <p:cNvSpPr txBox="1"/>
          <p:nvPr/>
        </p:nvSpPr>
        <p:spPr>
          <a:xfrm>
            <a:off x="6096000" y="1687594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Cytotoxic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T</a:t>
            </a:r>
            <a:r>
              <a:rPr lang="fr-FR" sz="1600" b="1" dirty="0">
                <a:latin typeface="Helvetica" pitchFamily="2" charset="0"/>
              </a:rPr>
              <a:t>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37A337B-CFDC-0E4B-AF56-8751E50B95D7}"/>
              </a:ext>
            </a:extLst>
          </p:cNvPr>
          <p:cNvSpPr txBox="1"/>
          <p:nvPr/>
        </p:nvSpPr>
        <p:spPr>
          <a:xfrm>
            <a:off x="8076989" y="2789162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latin typeface="Helvetica" pitchFamily="2" charset="0"/>
              </a:rPr>
              <a:t>mDCs</a:t>
            </a:r>
            <a:endParaRPr lang="fr-FR" sz="1600" b="1" dirty="0">
              <a:latin typeface="Helvetica" pitchFamily="2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275DC33-FE8A-A143-A11A-6670E1D7AB27}"/>
              </a:ext>
            </a:extLst>
          </p:cNvPr>
          <p:cNvSpPr txBox="1"/>
          <p:nvPr/>
        </p:nvSpPr>
        <p:spPr>
          <a:xfrm>
            <a:off x="3437426" y="2418572"/>
            <a:ext cx="2418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Helvetica" pitchFamily="2" charset="0"/>
              </a:rPr>
              <a:t>Schwann </a:t>
            </a:r>
            <a:r>
              <a:rPr lang="fr-FR" sz="1600" b="1" dirty="0" err="1">
                <a:latin typeface="Helvetica" pitchFamily="2" charset="0"/>
              </a:rPr>
              <a:t>Cells</a:t>
            </a:r>
            <a:endParaRPr lang="fr-FR" sz="16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5876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442</Words>
  <Application>Microsoft Macintosh PowerPoint</Application>
  <PresentationFormat>Grand écran</PresentationFormat>
  <Paragraphs>129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Microsoft Office User</cp:lastModifiedBy>
  <cp:revision>6</cp:revision>
  <dcterms:created xsi:type="dcterms:W3CDTF">2022-06-30T07:12:20Z</dcterms:created>
  <dcterms:modified xsi:type="dcterms:W3CDTF">2022-06-30T12:56:40Z</dcterms:modified>
</cp:coreProperties>
</file>